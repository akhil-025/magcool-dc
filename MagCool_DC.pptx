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4A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8745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3B7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PHYSICS-BASED SIMULATION &amp; MULTI-OBJECTIVE OPTIMISATION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286000"/>
            <a:ext cx="107259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MAGNETOCALORIC COOLING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DATA CENTERS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9776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BFE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 Refrigerant-Free, Low-Carbon HVAC&amp;R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905756" y="4526280"/>
            <a:ext cx="2377440" cy="0"/>
          </a:xfrm>
          <a:prstGeom prst="line">
            <a:avLst/>
          </a:prstGeom>
          <a:noFill/>
          <a:ln w="12700">
            <a:solidFill>
              <a:srgbClr val="F3B7C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7091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E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ASHRAE Region XV — 3rd CRC 2026  |  Student Competition  |  Theme: SAMUDRA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507492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E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Mechanical Engineering, SPCE, Mumbai  |  Guide: Kunal Bhavsar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6002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1965960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Motivation &amp; Methodology</a:t>
            </a:r>
            <a:endParaRPr lang="en-US" sz="3200" dirty="0"/>
          </a:p>
        </p:txBody>
      </p:sp>
      <p:sp>
        <p:nvSpPr>
          <p:cNvPr id="12" name="Shape 10"/>
          <p:cNvSpPr/>
          <p:nvPr/>
        </p:nvSpPr>
        <p:spPr>
          <a:xfrm>
            <a:off x="3899916" y="3200400"/>
            <a:ext cx="4389120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317296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1243584" y="3794760"/>
            <a:ext cx="3063240" cy="658368"/>
          </a:xfrm>
          <a:prstGeom prst="rect">
            <a:avLst/>
          </a:prstGeom>
          <a:solidFill>
            <a:srgbClr val="1C4A4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43584" y="379476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62856" y="3794760"/>
            <a:ext cx="3063240" cy="658368"/>
          </a:xfrm>
          <a:prstGeom prst="rect">
            <a:avLst/>
          </a:prstGeom>
          <a:solidFill>
            <a:srgbClr val="F3B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62856" y="379476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AMR Cycle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882128" y="3794760"/>
            <a:ext cx="3063240" cy="658368"/>
          </a:xfrm>
          <a:prstGeom prst="rect">
            <a:avLst/>
          </a:prstGeom>
          <a:solidFill>
            <a:srgbClr val="1C4A4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82128" y="379476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243584" y="4681728"/>
            <a:ext cx="3063240" cy="658368"/>
          </a:xfrm>
          <a:prstGeom prst="rect">
            <a:avLst/>
          </a:prstGeom>
          <a:solidFill>
            <a:srgbClr val="F3B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43584" y="468172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Literature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62856" y="4681728"/>
            <a:ext cx="3063240" cy="658368"/>
          </a:xfrm>
          <a:prstGeom prst="rect">
            <a:avLst/>
          </a:prstGeom>
          <a:solidFill>
            <a:srgbClr val="1C4A4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62856" y="468172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681728"/>
            <a:ext cx="3063240" cy="658368"/>
          </a:xfrm>
          <a:prstGeom prst="rect">
            <a:avLst/>
          </a:prstGeom>
          <a:solidFill>
            <a:srgbClr val="F3B7C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82128" y="468172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Pipeline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7498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1417320"/>
            <a:ext cx="10360152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138988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836676" y="1920240"/>
            <a:ext cx="32918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1C4A48"/>
            </a:solidFill>
            <a:prstDash val="solid"/>
          </a:ln>
          <a:effectLst>
            <a:outerShdw sx="100000" sy="100000" kx="0" ky="0" algn="bl" rotWithShape="0" blurRad="50800" dist="25400" dir="5400000">
              <a:srgbClr val="3A5A58">
                <a:alpha val="1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91540" y="2029968"/>
            <a:ext cx="318211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28116" y="2743200"/>
            <a:ext cx="31089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36676" y="342900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 data center's total energy goes to cooling — the single largest non-IT load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448556" y="1920240"/>
            <a:ext cx="32918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B23A56"/>
            </a:solidFill>
            <a:prstDash val="solid"/>
          </a:ln>
          <a:effectLst>
            <a:outerShdw sx="100000" sy="100000" kx="0" ky="0" algn="bl" rotWithShape="0" blurRad="50800" dist="25400" dir="5400000">
              <a:srgbClr val="3A5A58">
                <a:alpha val="1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503420" y="2029968"/>
            <a:ext cx="318211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23A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GWP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539996" y="2743200"/>
            <a:ext cx="31089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448556" y="342900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HFC/HFO refrigerants in vapor-compression and liquid cooling carry high Global Warming Potential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060436" y="1920240"/>
            <a:ext cx="32918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1C4A48"/>
            </a:solidFill>
            <a:prstDash val="solid"/>
          </a:ln>
          <a:effectLst>
            <a:outerShdw sx="100000" sy="100000" kx="0" ky="0" algn="bl" rotWithShape="0" blurRad="50800" dist="25400" dir="5400000">
              <a:srgbClr val="3A5A58">
                <a:alpha val="1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115300" y="2029968"/>
            <a:ext cx="318211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Solid-State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151876" y="2743200"/>
            <a:ext cx="31089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060436" y="342900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Magnetocaloric cooling promises a refrigerant-free alternative — no compressor, no leak pathway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PHYSICS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7498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Active Magnetic Regenerator (AMR) Cycle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1417320"/>
            <a:ext cx="10360152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138988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1645920" y="2103120"/>
            <a:ext cx="585216" cy="585216"/>
          </a:xfrm>
          <a:prstGeom prst="ellipse">
            <a:avLst/>
          </a:prstGeom>
          <a:solidFill>
            <a:srgbClr val="1C4A4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645920" y="21031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81228" y="28803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MAGNETIZE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" y="324612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applied — material heats (adiabatic)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195828" y="21488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416552" y="2103120"/>
            <a:ext cx="585216" cy="585216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416552" y="21031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3451860" y="28803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BLOW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451860" y="324612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rejected to the sink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66460" y="21488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7187184" y="2103120"/>
            <a:ext cx="585216" cy="585216"/>
          </a:xfrm>
          <a:prstGeom prst="ellipse">
            <a:avLst/>
          </a:prstGeom>
          <a:solidFill>
            <a:srgbClr val="1C4A4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187184" y="21031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6222492" y="28803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DEMAGNETIZE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22492" y="324612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removed — material cools (adiabatic)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737092" y="21488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9957816" y="2103120"/>
            <a:ext cx="585216" cy="585216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957816" y="21031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993124" y="28803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BLOW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993124" y="324612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absorbed from the load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371600" y="466344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Regeneration amplifies one stage's small ΔT into a usable temperature span across the bed.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7498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Gap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1417320"/>
            <a:ext cx="10360152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138988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965960"/>
          <a:ext cx="10515600" cy="329184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365760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Literature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A4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 modeling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State-dependent (f, ṁ, Qc-based)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 parasitic-fraction assumption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scope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 + geometry co-optimized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material, manual geometry choice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Honesty on gap vs. VCC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Explicit crossover search, reported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Rarely benchmarked against real HVAC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Data-center 5–20K span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domestic-refrigeration scale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ON SIX SOURCES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7498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Literature This Work Builds On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1417320"/>
            <a:ext cx="10360152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138988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15600" cy="3977640"/>
        </p:xfrm>
        <a:graphic>
          <a:graphicData uri="http://schemas.openxmlformats.org/drawingml/2006/table">
            <a:tbl>
              <a:tblPr/>
              <a:tblGrid>
                <a:gridCol w="2286000"/>
                <a:gridCol w="3291840"/>
                <a:gridCol w="4937760"/>
              </a:tblGrid>
              <a:tr h="5682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Anchors in This 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A48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Giant MCE discovery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Pecharsky &amp; Gschneidner, PRL 78, 4494 (1997)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First-order Gd₅Si₂Ge₂ transition — motivates the Landau extension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 benchmark data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Dan’kov et al., PRB 57, 3478 (1998)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ΔT_ad at 1/2/5 T — primary material-model validation target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AMR concept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Barclay, US Patent 4332135 (1982)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Defines the four-stage cycle this model simulates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 benchmarks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Kamran, Ahmad &amp; Wang (2020); Greco et al. (2019)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Comparative device tables behind this repo's 16-device benchmark set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 &amp; geometry physics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Tušek et al. (2013); Klinar et al. (2024)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Geometry-dependent pumping power and the Hypereg parallel-hydraulic 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Mean-field limits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Oliveira &amp; von Ranke, Phys. Rep. 489 (2010)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5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Documents the near-Tᴄ bias this model's own validation reproduces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1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7498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1417320"/>
            <a:ext cx="10360152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138988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676656" y="1965960"/>
            <a:ext cx="3429000" cy="3566160"/>
          </a:xfrm>
          <a:prstGeom prst="roundRect">
            <a:avLst>
              <a:gd name="adj" fmla="val 1867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6656" y="1965960"/>
            <a:ext cx="3429000" cy="457200"/>
          </a:xfrm>
          <a:prstGeom prst="roundRect">
            <a:avLst>
              <a:gd name="adj" fmla="val 14000"/>
            </a:avLst>
          </a:prstGeom>
          <a:solidFill>
            <a:srgbClr val="F3B7C5"/>
          </a:solidFill>
          <a:ln/>
        </p:spPr>
      </p:sp>
      <p:sp>
        <p:nvSpPr>
          <p:cNvPr id="16" name="Shape 14"/>
          <p:cNvSpPr/>
          <p:nvPr/>
        </p:nvSpPr>
        <p:spPr>
          <a:xfrm>
            <a:off x="676656" y="2194560"/>
            <a:ext cx="3429000" cy="228600"/>
          </a:xfrm>
          <a:prstGeom prst="rect">
            <a:avLst/>
          </a:prstGeom>
          <a:solidFill>
            <a:srgbClr val="F3B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1248" y="1965960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&amp; Cycle Modeling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2532888"/>
            <a:ext cx="30998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Mean-field (Gd) + Landau (giant-MCE)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0-D AMR cooling/COP model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Validate vs. literature &amp; real devices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79976" y="1965960"/>
            <a:ext cx="3429000" cy="3566160"/>
          </a:xfrm>
          <a:prstGeom prst="roundRect">
            <a:avLst>
              <a:gd name="adj" fmla="val 1867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79976" y="1965960"/>
            <a:ext cx="3429000" cy="457200"/>
          </a:xfrm>
          <a:prstGeom prst="roundRect">
            <a:avLst>
              <a:gd name="adj" fmla="val 14000"/>
            </a:avLst>
          </a:prstGeom>
          <a:solidFill>
            <a:srgbClr val="1C4A48"/>
          </a:solidFill>
          <a:ln/>
        </p:spPr>
      </p:sp>
      <p:sp>
        <p:nvSpPr>
          <p:cNvPr id="21" name="Shape 19"/>
          <p:cNvSpPr/>
          <p:nvPr/>
        </p:nvSpPr>
        <p:spPr>
          <a:xfrm>
            <a:off x="4379976" y="2194560"/>
            <a:ext cx="3429000" cy="228600"/>
          </a:xfrm>
          <a:prstGeom prst="rect">
            <a:avLst/>
          </a:prstGeom>
          <a:solidFill>
            <a:srgbClr val="1C4A4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44568" y="1965960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Calibration &amp; Sensitivity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544568" y="2532888"/>
            <a:ext cx="30998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State-dependent eddy/pumping/base loss model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Calibrate to real AMR prototypes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Sobol sensitivity analysis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83296" y="1965960"/>
            <a:ext cx="3429000" cy="3566160"/>
          </a:xfrm>
          <a:prstGeom prst="roundRect">
            <a:avLst>
              <a:gd name="adj" fmla="val 1867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83296" y="1965960"/>
            <a:ext cx="3429000" cy="457200"/>
          </a:xfrm>
          <a:prstGeom prst="roundRect">
            <a:avLst>
              <a:gd name="adj" fmla="val 14000"/>
            </a:avLst>
          </a:prstGeom>
          <a:solidFill>
            <a:srgbClr val="F3B7C5"/>
          </a:solidFill>
          <a:ln/>
        </p:spPr>
      </p:sp>
      <p:sp>
        <p:nvSpPr>
          <p:cNvPr id="26" name="Shape 24"/>
          <p:cNvSpPr/>
          <p:nvPr/>
        </p:nvSpPr>
        <p:spPr>
          <a:xfrm>
            <a:off x="8083296" y="2194560"/>
            <a:ext cx="3429000" cy="228600"/>
          </a:xfrm>
          <a:prstGeom prst="rect">
            <a:avLst/>
          </a:prstGeom>
          <a:solidFill>
            <a:srgbClr val="F3B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47888" y="1965960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Multi-Objective Optimization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247888" y="2532888"/>
            <a:ext cx="30998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RSM surrogate + NSGA-III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Techno-economic + emissions comparison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Assess feasibility vs. conventional HVAC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ALL FITS TOGETHER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7498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Pipeline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1417320"/>
            <a:ext cx="10360152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138988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608076" y="2286000"/>
            <a:ext cx="1170432" cy="914400"/>
          </a:xfrm>
          <a:prstGeom prst="roundRect">
            <a:avLst>
              <a:gd name="adj" fmla="val 6000"/>
            </a:avLst>
          </a:prstGeom>
          <a:solidFill>
            <a:srgbClr val="1C4A4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3796" y="2286000"/>
            <a:ext cx="1078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760220" y="2578608"/>
            <a:ext cx="9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833372" y="2286000"/>
            <a:ext cx="1170432" cy="914400"/>
          </a:xfrm>
          <a:prstGeom prst="roundRect">
            <a:avLst>
              <a:gd name="adj" fmla="val 6000"/>
            </a:avLst>
          </a:prstGeom>
          <a:solidFill>
            <a:srgbClr val="F3B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879092" y="2286000"/>
            <a:ext cx="1078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 Cycle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2985516" y="2578608"/>
            <a:ext cx="9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058668" y="2286000"/>
            <a:ext cx="1170432" cy="914400"/>
          </a:xfrm>
          <a:prstGeom prst="roundRect">
            <a:avLst>
              <a:gd name="adj" fmla="val 6000"/>
            </a:avLst>
          </a:prstGeom>
          <a:solidFill>
            <a:srgbClr val="1C4A4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104388" y="2286000"/>
            <a:ext cx="1078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210812" y="2578608"/>
            <a:ext cx="9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283964" y="2286000"/>
            <a:ext cx="1170432" cy="914400"/>
          </a:xfrm>
          <a:prstGeom prst="roundRect">
            <a:avLst>
              <a:gd name="adj" fmla="val 6000"/>
            </a:avLst>
          </a:prstGeom>
          <a:solidFill>
            <a:srgbClr val="F3B7C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29684" y="2286000"/>
            <a:ext cx="1078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436108" y="2578608"/>
            <a:ext cx="9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509260" y="2286000"/>
            <a:ext cx="1170432" cy="914400"/>
          </a:xfrm>
          <a:prstGeom prst="roundRect">
            <a:avLst>
              <a:gd name="adj" fmla="val 6000"/>
            </a:avLst>
          </a:prstGeom>
          <a:solidFill>
            <a:srgbClr val="1C4A4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554980" y="2286000"/>
            <a:ext cx="1078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Sobol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661404" y="2578608"/>
            <a:ext cx="9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734556" y="2286000"/>
            <a:ext cx="1170432" cy="914400"/>
          </a:xfrm>
          <a:prstGeom prst="roundRect">
            <a:avLst>
              <a:gd name="adj" fmla="val 6000"/>
            </a:avLst>
          </a:prstGeom>
          <a:solidFill>
            <a:srgbClr val="F3B7C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780276" y="2286000"/>
            <a:ext cx="1078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RSM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7886700" y="2578608"/>
            <a:ext cx="9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59852" y="2286000"/>
            <a:ext cx="1170432" cy="914400"/>
          </a:xfrm>
          <a:prstGeom prst="roundRect">
            <a:avLst>
              <a:gd name="adj" fmla="val 6000"/>
            </a:avLst>
          </a:prstGeom>
          <a:solidFill>
            <a:srgbClr val="1C4A4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005572" y="2286000"/>
            <a:ext cx="1078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NSGA-III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111996" y="2578608"/>
            <a:ext cx="9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185148" y="2286000"/>
            <a:ext cx="1170432" cy="914400"/>
          </a:xfrm>
          <a:prstGeom prst="roundRect">
            <a:avLst>
              <a:gd name="adj" fmla="val 6000"/>
            </a:avLst>
          </a:prstGeom>
          <a:solidFill>
            <a:srgbClr val="F3B7C5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230868" y="2286000"/>
            <a:ext cx="1078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Recs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10337292" y="2578608"/>
            <a:ext cx="9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0410444" y="2286000"/>
            <a:ext cx="1170432" cy="914400"/>
          </a:xfrm>
          <a:prstGeom prst="roundRect">
            <a:avLst>
              <a:gd name="adj" fmla="val 6000"/>
            </a:avLst>
          </a:prstGeom>
          <a:solidFill>
            <a:srgbClr val="1C4A48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0456164" y="2286000"/>
            <a:ext cx="1078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Economics &amp;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Emissions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1371600" y="356616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stages  ·  ~30 core modules  ·  452 automated tests  ·  35 auto-generated figures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1371600" y="406908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feeds validated outputs into the next, ensuring traceable, reproducible results.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6002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II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1965960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 &amp; System Modeling</a:t>
            </a:r>
            <a:endParaRPr lang="en-US" sz="3200" dirty="0"/>
          </a:p>
        </p:txBody>
      </p:sp>
      <p:sp>
        <p:nvSpPr>
          <p:cNvPr id="12" name="Shape 10"/>
          <p:cNvSpPr/>
          <p:nvPr/>
        </p:nvSpPr>
        <p:spPr>
          <a:xfrm>
            <a:off x="3899916" y="3200400"/>
            <a:ext cx="4389120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317296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1243584" y="3794760"/>
            <a:ext cx="3063240" cy="658368"/>
          </a:xfrm>
          <a:prstGeom prst="rect">
            <a:avLst/>
          </a:prstGeom>
          <a:solidFill>
            <a:srgbClr val="1C4A4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43584" y="379476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Physics Primer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62856" y="3794760"/>
            <a:ext cx="3063240" cy="658368"/>
          </a:xfrm>
          <a:prstGeom prst="rect">
            <a:avLst/>
          </a:prstGeom>
          <a:solidFill>
            <a:srgbClr val="F3B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62856" y="379476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Validation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882128" y="3794760"/>
            <a:ext cx="3063240" cy="658368"/>
          </a:xfrm>
          <a:prstGeom prst="rect">
            <a:avLst/>
          </a:prstGeom>
          <a:solidFill>
            <a:srgbClr val="1C4A4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82128" y="379476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Giant-MCE Honesty Flag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243584" y="4681728"/>
            <a:ext cx="3063240" cy="658368"/>
          </a:xfrm>
          <a:prstGeom prst="rect">
            <a:avLst/>
          </a:prstGeom>
          <a:solidFill>
            <a:srgbClr val="F3B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43584" y="468172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 Device Physics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62856" y="4681728"/>
            <a:ext cx="3063240" cy="658368"/>
          </a:xfrm>
          <a:prstGeom prst="rect">
            <a:avLst/>
          </a:prstGeom>
          <a:solidFill>
            <a:srgbClr val="1C4A4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62856" y="468172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Modeling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681728"/>
            <a:ext cx="3063240" cy="658368"/>
          </a:xfrm>
          <a:prstGeom prst="rect">
            <a:avLst/>
          </a:prstGeom>
          <a:solidFill>
            <a:srgbClr val="F3B7C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82128" y="468172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Validation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7498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Model “Sees” a Magnetocaloric Material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1417320"/>
            <a:ext cx="10360152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138988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5934456" y="1956816"/>
            <a:ext cx="5687568" cy="2578608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  <a:effectLst>
            <a:outerShdw sx="100000" sy="100000" kx="0" ky="0" algn="bl" rotWithShape="0" blurRad="76200" dist="25400" dir="5400000">
              <a:srgbClr val="3A5A58">
                <a:alpha val="18000"/>
              </a:srgbClr>
            </a:outerShdw>
          </a:effectLst>
        </p:spPr>
      </p:sp>
      <p:pic>
        <p:nvPicPr>
          <p:cNvPr id="15" name="Image 0" descr="slide_figs\slide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89320" y="2011680"/>
            <a:ext cx="5577840" cy="246888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22960" y="201168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Gd: mean-field (Brillouin/Weiss) theory, H_eff = H + λM — λ fixed by the known Curie temperature, not fit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Giant-MCE families (Gd₅Si₂Ge₂, La(Fe,Si)₁₃Hy, (Mn,Fe)₂(P,Si)): 6th-order Landau free energy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 because these are first-order transitions mean-field theory cannot capture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989320" y="457200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 change &amp; ΔT_ad vs. temperature (1/2/5 T), peak at Tc = 294 K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7498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 Model Validation vs. Dan’kov et al. (1998)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1417320"/>
            <a:ext cx="10360152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138988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201168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1C4A48"/>
            </a:solidFill>
            <a:prstDash val="solid"/>
          </a:ln>
          <a:effectLst>
            <a:outerShdw sx="100000" sy="100000" kx="0" ky="0" algn="bl" rotWithShape="0" blurRad="50800" dist="25400" dir="5400000">
              <a:srgbClr val="3A5A58">
                <a:alpha val="1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77824" y="2121408"/>
            <a:ext cx="162763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+4.2%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2724912"/>
            <a:ext cx="155448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 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88920" y="201168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B08A2B"/>
            </a:solidFill>
            <a:prstDash val="solid"/>
          </a:ln>
          <a:effectLst>
            <a:outerShdw sx="100000" sy="100000" kx="0" ky="0" algn="bl" rotWithShape="0" blurRad="50800" dist="25400" dir="5400000">
              <a:srgbClr val="3A5A58">
                <a:alpha val="1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2843784" y="2121408"/>
            <a:ext cx="162763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−1.1%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880360" y="2724912"/>
            <a:ext cx="155448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 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201168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B23A56"/>
            </a:solidFill>
            <a:prstDash val="solid"/>
          </a:ln>
          <a:effectLst>
            <a:outerShdw sx="100000" sy="100000" kx="0" ky="0" algn="bl" rotWithShape="0" blurRad="50800" dist="25400" dir="5400000">
              <a:srgbClr val="3A5A58">
                <a:alpha val="1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809744" y="2121408"/>
            <a:ext cx="162763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23A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−8.1%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2724912"/>
            <a:ext cx="155448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5 T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3520440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Mean-field theory's known near-Tc bias — physically explained, not hidden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trend consistent with textbook mean-field limitations near the Curie point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345936" y="1956816"/>
            <a:ext cx="5276088" cy="3675888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  <a:effectLst>
            <a:outerShdw sx="100000" sy="100000" kx="0" ky="0" algn="bl" rotWithShape="0" blurRad="76200" dist="25400" dir="5400000">
              <a:srgbClr val="3A5A58">
                <a:alpha val="18000"/>
              </a:srgbClr>
            </a:outerShdw>
          </a:effectLst>
        </p:spPr>
      </p:sp>
      <p:pic>
        <p:nvPicPr>
          <p:cNvPr id="25" name="Image 0" descr="slide_figs\slide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2011680"/>
            <a:ext cx="5166360" cy="356616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OPENLY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7498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Honest Calibration Gap: Giant-MCE ΔT_ad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1417320"/>
            <a:ext cx="10360152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138988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6208776" y="1956816"/>
            <a:ext cx="5413248" cy="3675888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  <a:effectLst>
            <a:outerShdw sx="100000" sy="100000" kx="0" ky="0" algn="bl" rotWithShape="0" blurRad="76200" dist="25400" dir="5400000">
              <a:srgbClr val="3A5A58">
                <a:alpha val="18000"/>
              </a:srgbClr>
            </a:outerShdw>
          </a:effectLst>
        </p:spPr>
      </p:sp>
      <p:pic>
        <p:nvPicPr>
          <p:cNvPr id="15" name="Image 0" descr="slide_figs\slide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63640" y="2011680"/>
            <a:ext cx="5303520" cy="356616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2011680"/>
            <a:ext cx="5120640" cy="2286000"/>
          </a:xfrm>
          <a:prstGeom prst="roundRect">
            <a:avLst>
              <a:gd name="adj" fmla="val 3200"/>
            </a:avLst>
          </a:prstGeom>
          <a:solidFill>
            <a:srgbClr val="FBEBD9"/>
          </a:solidFill>
          <a:ln w="15875">
            <a:solidFill>
              <a:srgbClr val="C97A2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51560" y="224028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 </a:t>
            </a:r>
            <a:pPr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24.2 K
</a:t>
            </a:r>
            <a:pPr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measurement (Giguère et al. 1999):  </a:t>
            </a:r>
            <a:pPr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 K
</a:t>
            </a:r>
            <a:pPr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Overestimate:  </a:t>
            </a:r>
            <a:pPr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2.42×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" y="36576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downstream giant-MCE / cascade number in this talk should be read as an upper bound.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BEHAVIOR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7498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AMR Characteristic Curve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1417320"/>
            <a:ext cx="10360152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138988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3511296" y="1911096"/>
            <a:ext cx="6053328" cy="4087368"/>
          </a:xfrm>
          <a:prstGeom prst="roundRect">
            <a:avLst>
              <a:gd name="adj" fmla="val 1342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  <a:effectLst>
            <a:outerShdw sx="100000" sy="100000" kx="0" ky="0" algn="bl" rotWithShape="0" blurRad="76200" dist="25400" dir="5400000">
              <a:srgbClr val="3A5A58">
                <a:alpha val="18000"/>
              </a:srgbClr>
            </a:outerShdw>
          </a:effectLst>
        </p:spPr>
      </p:sp>
      <p:pic>
        <p:nvPicPr>
          <p:cNvPr id="15" name="Image 0" descr="slide_figs\slide1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965960"/>
            <a:ext cx="5943600" cy="397764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914400" y="329184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 capacity and COP both fall as span widens — and there is a hard structural ceiling near 16 K for a single stage.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REALISM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7498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“Ideal” COP Is the Wrong Number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1417320"/>
            <a:ext cx="10360152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138988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6071616" y="1956816"/>
            <a:ext cx="555040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  <a:effectLst>
            <a:outerShdw sx="100000" sy="100000" kx="0" ky="0" algn="bl" rotWithShape="0" blurRad="76200" dist="25400" dir="5400000">
              <a:srgbClr val="3A5A58">
                <a:alpha val="18000"/>
              </a:srgbClr>
            </a:outerShdw>
          </a:effectLst>
        </p:spPr>
      </p:sp>
      <p:pic>
        <p:nvPicPr>
          <p:cNvPr id="15" name="Image 0" descr="slide_figs\slide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2011680"/>
            <a:ext cx="5440680" cy="320040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22960" y="21031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W_eddy  ∝  f · H²
</a:t>
            </a:r>
            <a:pPr indent="0" marL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W_pump  ∝  ṁ²
</a:t>
            </a:r>
            <a:pPr indent="0" marL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W_base  ∝  Qc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to 3 real devices — an exactly-determined fit, not a regression.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 CHECK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7498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System-Level Validation — 6 Real AMR Prototypes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1417320"/>
            <a:ext cx="10360152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138988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8416" y="1911096"/>
            <a:ext cx="6419088" cy="3538728"/>
          </a:xfrm>
          <a:prstGeom prst="roundRect">
            <a:avLst>
              <a:gd name="adj" fmla="val 1550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  <a:effectLst>
            <a:outerShdw sx="100000" sy="100000" kx="0" ky="0" algn="bl" rotWithShape="0" blurRad="76200" dist="25400" dir="5400000">
              <a:srgbClr val="3A5A58">
                <a:alpha val="18000"/>
              </a:srgbClr>
            </a:outerShdw>
          </a:effectLst>
        </p:spPr>
      </p:sp>
      <p:pic>
        <p:nvPicPr>
          <p:cNvPr id="15" name="Image 0" descr="slide_figs\slide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383280" y="1965960"/>
            <a:ext cx="6309360" cy="342900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914400" y="54406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6 devices within ±15%  ·  2 outliers identified and physically explained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6002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III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1965960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Optimization &amp; Design</a:t>
            </a:r>
            <a:endParaRPr lang="en-US" sz="3200" dirty="0"/>
          </a:p>
        </p:txBody>
      </p:sp>
      <p:sp>
        <p:nvSpPr>
          <p:cNvPr id="12" name="Shape 10"/>
          <p:cNvSpPr/>
          <p:nvPr/>
        </p:nvSpPr>
        <p:spPr>
          <a:xfrm>
            <a:off x="3899916" y="3200400"/>
            <a:ext cx="4389120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317296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1243584" y="3794760"/>
            <a:ext cx="3063240" cy="658368"/>
          </a:xfrm>
          <a:prstGeom prst="rect">
            <a:avLst/>
          </a:prstGeom>
          <a:solidFill>
            <a:srgbClr val="1C4A4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43584" y="379476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Sobol Discovery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62856" y="3794760"/>
            <a:ext cx="3063240" cy="658368"/>
          </a:xfrm>
          <a:prstGeom prst="rect">
            <a:avLst/>
          </a:prstGeom>
          <a:solidFill>
            <a:srgbClr val="F3B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62856" y="379476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 Modeling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882128" y="3794760"/>
            <a:ext cx="3063240" cy="658368"/>
          </a:xfrm>
          <a:prstGeom prst="rect">
            <a:avLst/>
          </a:prstGeom>
          <a:solidFill>
            <a:srgbClr val="1C4A4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82128" y="379476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Setup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243584" y="4681728"/>
            <a:ext cx="3063240" cy="658368"/>
          </a:xfrm>
          <a:prstGeom prst="rect">
            <a:avLst/>
          </a:prstGeom>
          <a:solidFill>
            <a:srgbClr val="F3B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43584" y="468172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 Hero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62856" y="4681728"/>
            <a:ext cx="3063240" cy="658368"/>
          </a:xfrm>
          <a:prstGeom prst="rect">
            <a:avLst/>
          </a:prstGeom>
          <a:solidFill>
            <a:srgbClr val="1C4A4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62856" y="468172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Design Point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681728"/>
            <a:ext cx="3063240" cy="658368"/>
          </a:xfrm>
          <a:prstGeom prst="rect">
            <a:avLst/>
          </a:prstGeom>
          <a:solidFill>
            <a:srgbClr val="F3B7C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82128" y="468172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Geometry Optimum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62856" y="5568696"/>
            <a:ext cx="3063240" cy="658368"/>
          </a:xfrm>
          <a:prstGeom prst="rect">
            <a:avLst/>
          </a:prstGeom>
          <a:solidFill>
            <a:srgbClr val="1C4A4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562856" y="5568696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Cascades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#2 INSIGHT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7498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Frequency, Not Field, Runs the Show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1417320"/>
            <a:ext cx="10360152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138988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6254496" y="1956816"/>
            <a:ext cx="5367528" cy="3493008"/>
          </a:xfrm>
          <a:prstGeom prst="roundRect">
            <a:avLst>
              <a:gd name="adj" fmla="val 1571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  <a:effectLst>
            <a:outerShdw sx="100000" sy="100000" kx="0" ky="0" algn="bl" rotWithShape="0" blurRad="76200" dist="25400" dir="5400000">
              <a:srgbClr val="3A5A58">
                <a:alpha val="18000"/>
              </a:srgbClr>
            </a:outerShdw>
          </a:effectLst>
        </p:spPr>
      </p:sp>
      <p:pic>
        <p:nvPicPr>
          <p:cNvPr id="15" name="Image 0" descr="slide_figs\slide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2011680"/>
            <a:ext cx="5257800" cy="338328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22960" y="21031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206240" y="21031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0.87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2651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rate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206240" y="2651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0.15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3200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06240" y="3200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0.01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37490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Regen. effectiveness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06240" y="3749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0.01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44805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naive constant-loss model attributes 100% of sensitivity to a made-up parameter instead.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UP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7498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40,000+ Evaluations Possible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1417320"/>
            <a:ext cx="10360152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138988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3236976" y="1911096"/>
            <a:ext cx="6601968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  <a:effectLst>
            <a:outerShdw sx="100000" sy="100000" kx="0" ky="0" algn="bl" rotWithShape="0" blurRad="76200" dist="25400" dir="5400000">
              <a:srgbClr val="3A5A58">
                <a:alpha val="18000"/>
              </a:srgbClr>
            </a:outerShdw>
          </a:effectLst>
        </p:spPr>
      </p:sp>
      <p:pic>
        <p:nvPicPr>
          <p:cNvPr id="15" name="Image 0" descr="slide_figs\slide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91840" y="1965960"/>
            <a:ext cx="6492240" cy="329184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914400" y="53492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R² = 0.856   ·   RMSE = 365 W   ·   300 training samples   ·   100 held-out test samples   ·   5 design variables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NSGA-III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7498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Optimization Setup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1417320"/>
            <a:ext cx="10360152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138988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1965960"/>
            <a:ext cx="521208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1965960"/>
            <a:ext cx="5212080" cy="457200"/>
          </a:xfrm>
          <a:prstGeom prst="roundRect">
            <a:avLst>
              <a:gd name="adj" fmla="val 14000"/>
            </a:avLst>
          </a:prstGeom>
          <a:solidFill>
            <a:srgbClr val="1C4A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22960" y="2194560"/>
            <a:ext cx="5212080" cy="228600"/>
          </a:xfrm>
          <a:prstGeom prst="rect">
            <a:avLst/>
          </a:prstGeom>
          <a:solidFill>
            <a:srgbClr val="1C4A4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7552" y="1965960"/>
            <a:ext cx="4882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Variables (7 + 1 categorical)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2532888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· frequency · flow rate · regenerator mass · effectiveness · blow fraction · particle diameter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family is co-optimized as an 8th, categorical choice.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1965960"/>
            <a:ext cx="521208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72200" y="1965960"/>
            <a:ext cx="5212080" cy="457200"/>
          </a:xfrm>
          <a:prstGeom prst="roundRect">
            <a:avLst>
              <a:gd name="adj" fmla="val 14000"/>
            </a:avLst>
          </a:prstGeom>
          <a:solidFill>
            <a:srgbClr val="F3B7C5"/>
          </a:solidFill>
          <a:ln/>
        </p:spPr>
      </p:sp>
      <p:sp>
        <p:nvSpPr>
          <p:cNvPr id="21" name="Shape 19"/>
          <p:cNvSpPr/>
          <p:nvPr/>
        </p:nvSpPr>
        <p:spPr>
          <a:xfrm>
            <a:off x="6172200" y="2194560"/>
            <a:ext cx="5212080" cy="228600"/>
          </a:xfrm>
          <a:prstGeom prst="rect">
            <a:avLst/>
          </a:prstGeom>
          <a:solidFill>
            <a:srgbClr val="F3B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36792" y="1965960"/>
            <a:ext cx="4882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336792" y="2532888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 COP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 cooling capacity (Qc)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BOM cost ($)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3 independent NSGA-III seeds for stability.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FINDING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7498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Pareto Front &amp; a Material Discovery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1417320"/>
            <a:ext cx="10360152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138988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3191256" y="1911096"/>
            <a:ext cx="577900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  <a:effectLst>
            <a:outerShdw sx="100000" sy="100000" kx="0" ky="0" algn="bl" rotWithShape="0" blurRad="76200" dist="25400" dir="5400000">
              <a:srgbClr val="3A5A58">
                <a:alpha val="18000"/>
              </a:srgbClr>
            </a:outerShdw>
          </a:effectLst>
        </p:spPr>
      </p:sp>
      <p:pic>
        <p:nvPicPr>
          <p:cNvPr id="15" name="Image 0" descr="slide_figs\slide1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46120" y="1965960"/>
            <a:ext cx="5669280" cy="320040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71600" y="534924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La(Fe,Si)₁₃Hy dominates 67–100% of Pareto-optimal designs across 3 independent seeds — a genuine, seed-stable finding.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SHEET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7498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Design Point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1417320"/>
            <a:ext cx="10360152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138988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1965960"/>
            <a:ext cx="3383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20391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229514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La(Fe,Si)₁₃Hy, tuned, Tc = 285.3 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89120" y="1965960"/>
            <a:ext cx="3383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26280" y="20391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229514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1.01 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955280" y="1965960"/>
            <a:ext cx="3383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92440" y="20391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092440" y="229514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2.52 Hz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22960" y="2926080"/>
            <a:ext cx="3383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0120" y="29992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960120" y="325526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0.49 kg/s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389120" y="2926080"/>
            <a:ext cx="3383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26280" y="29992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26280" y="325526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3.29 kg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955280" y="2926080"/>
            <a:ext cx="3383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92440" y="29992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Effectiveness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092440" y="325526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0.90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" y="3886200"/>
            <a:ext cx="3383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60120" y="3959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 diameter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960120" y="421538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0.54 mm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22960" y="4892040"/>
            <a:ext cx="10561320" cy="868680"/>
          </a:xfrm>
          <a:prstGeom prst="roundRect">
            <a:avLst>
              <a:gd name="adj" fmla="val 8421"/>
            </a:avLst>
          </a:prstGeom>
          <a:solidFill>
            <a:srgbClr val="1C4A48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2960" y="4892040"/>
            <a:ext cx="10561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COP_electrical = 9.91      ·      Qc = 32.4 kW      ·      Cost = $1,919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TRADEOFF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7498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Regenerator Geometry: an Interior Optimum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1417320"/>
            <a:ext cx="10360152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138988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3054096" y="1911096"/>
            <a:ext cx="6784848" cy="3904488"/>
          </a:xfrm>
          <a:prstGeom prst="roundRect">
            <a:avLst>
              <a:gd name="adj" fmla="val 1405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  <a:effectLst>
            <a:outerShdw sx="100000" sy="100000" kx="0" ky="0" algn="bl" rotWithShape="0" blurRad="76200" dist="25400" dir="5400000">
              <a:srgbClr val="3A5A58">
                <a:alpha val="18000"/>
              </a:srgbClr>
            </a:outerShdw>
          </a:effectLst>
        </p:spPr>
      </p:sp>
      <p:pic>
        <p:nvPicPr>
          <p:cNvPr id="15" name="Image 0" descr="slide_figs\slide1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08960" y="1965960"/>
            <a:ext cx="6675120" cy="379476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914400" y="56235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particles improve heat transfer but raise pumping loss. Optimum packed-bed sphere diameter: 0.5 mm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SPAN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7498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Staging Beats the Single-Stage Ceiling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1417320"/>
            <a:ext cx="10360152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138988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2871216" y="1911096"/>
            <a:ext cx="7059168" cy="3950208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  <a:effectLst>
            <a:outerShdw sx="100000" sy="100000" kx="0" ky="0" algn="bl" rotWithShape="0" blurRad="76200" dist="25400" dir="5400000">
              <a:srgbClr val="3A5A58">
                <a:alpha val="18000"/>
              </a:srgbClr>
            </a:outerShdw>
          </a:effectLst>
        </p:spPr>
      </p:sp>
      <p:pic>
        <p:nvPicPr>
          <p:cNvPr id="15" name="Image 0" descr="slide_figs\slide2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926080" y="1965960"/>
            <a:ext cx="6949440" cy="384048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9144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Curie-graded, multi-stage regenerators extend usable span well past the single-stage collapse.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6002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IV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1965960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&amp; Honest Verdict</a:t>
            </a:r>
            <a:endParaRPr lang="en-US" sz="3200" dirty="0"/>
          </a:p>
        </p:txBody>
      </p:sp>
      <p:sp>
        <p:nvSpPr>
          <p:cNvPr id="12" name="Shape 10"/>
          <p:cNvSpPr/>
          <p:nvPr/>
        </p:nvSpPr>
        <p:spPr>
          <a:xfrm>
            <a:off x="3899916" y="3200400"/>
            <a:ext cx="4389120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317296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1243584" y="3794760"/>
            <a:ext cx="3063240" cy="658368"/>
          </a:xfrm>
          <a:prstGeom prst="rect">
            <a:avLst/>
          </a:prstGeom>
          <a:solidFill>
            <a:srgbClr val="1C4A4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43584" y="379476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Verdict Hero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62856" y="3794760"/>
            <a:ext cx="3063240" cy="658368"/>
          </a:xfrm>
          <a:prstGeom prst="rect">
            <a:avLst/>
          </a:prstGeom>
          <a:solidFill>
            <a:srgbClr val="F3B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62856" y="379476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882128" y="3794760"/>
            <a:ext cx="3063240" cy="658368"/>
          </a:xfrm>
          <a:prstGeom prst="rect">
            <a:avLst/>
          </a:prstGeom>
          <a:solidFill>
            <a:srgbClr val="1C4A4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82128" y="379476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Emissions &amp; Water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243584" y="4681728"/>
            <a:ext cx="3063240" cy="658368"/>
          </a:xfrm>
          <a:prstGeom prst="rect">
            <a:avLst/>
          </a:prstGeom>
          <a:solidFill>
            <a:srgbClr val="F3B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43584" y="468172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Roadmap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62856" y="4681728"/>
            <a:ext cx="3063240" cy="658368"/>
          </a:xfrm>
          <a:prstGeom prst="rect">
            <a:avLst/>
          </a:prstGeom>
          <a:solidFill>
            <a:srgbClr val="1C4A4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62856" y="468172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Open Items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681728"/>
            <a:ext cx="3063240" cy="658368"/>
          </a:xfrm>
          <a:prstGeom prst="rect">
            <a:avLst/>
          </a:prstGeom>
          <a:solidFill>
            <a:srgbClr val="F3B7C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82128" y="468172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FINDING #2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7498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Honest Verdict vs. Conventional Cooling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1417320"/>
            <a:ext cx="10360152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138988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3236976" y="1728216"/>
            <a:ext cx="6510528" cy="3172968"/>
          </a:xfrm>
          <a:prstGeom prst="roundRect">
            <a:avLst>
              <a:gd name="adj" fmla="val 1729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  <a:effectLst>
            <a:outerShdw sx="100000" sy="100000" kx="0" ky="0" algn="bl" rotWithShape="0" blurRad="76200" dist="25400" dir="5400000">
              <a:srgbClr val="3A5A58">
                <a:alpha val="18000"/>
              </a:srgbClr>
            </a:outerShdw>
          </a:effectLst>
        </p:spPr>
      </p:sp>
      <p:pic>
        <p:nvPicPr>
          <p:cNvPr id="15" name="Image 0" descr="slide_figs\slide2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91840" y="1783080"/>
            <a:ext cx="6400800" cy="3063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1463040" y="4983480"/>
            <a:ext cx="9235440" cy="1417320"/>
          </a:xfrm>
          <a:prstGeom prst="roundRect">
            <a:avLst>
              <a:gd name="adj" fmla="val 5161"/>
            </a:avLst>
          </a:prstGeom>
          <a:solidFill>
            <a:srgbClr val="FCE9EC"/>
          </a:solidFill>
          <a:ln w="15875">
            <a:solidFill>
              <a:srgbClr val="B23A5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691640" y="5120640"/>
            <a:ext cx="8778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systematic search — span 3–30K, vapor-compression η = 0.25–0.55 — found </a:t>
            </a:r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B23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combination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where calibrated AMR beats vapor-compression on COP.
</a:t>
            </a:r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AMR COP found: 5.89   vs.   VCC's own worst-case COP: 24.33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TECHNO-ECONOMICS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7498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Economics: Where the Cost Actually Lives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1417320"/>
            <a:ext cx="10360152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138988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6071616" y="1956816"/>
            <a:ext cx="5596128" cy="3675888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  <a:effectLst>
            <a:outerShdw sx="100000" sy="100000" kx="0" ky="0" algn="bl" rotWithShape="0" blurRad="76200" dist="25400" dir="5400000">
              <a:srgbClr val="3A5A58">
                <a:alpha val="18000"/>
              </a:srgbClr>
            </a:outerShdw>
          </a:effectLst>
        </p:spPr>
      </p:sp>
      <p:pic>
        <p:nvPicPr>
          <p:cNvPr id="15" name="Image 0" descr="slide_figs\slide2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2011680"/>
            <a:ext cx="5486400" cy="356616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2011680"/>
            <a:ext cx="50292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1C4A48"/>
            </a:solidFill>
            <a:prstDash val="solid"/>
          </a:ln>
          <a:effectLst>
            <a:outerShdw sx="100000" sy="100000" kx="0" ky="0" algn="bl" rotWithShape="0" blurRad="50800" dist="25400" dir="5400000">
              <a:srgbClr val="3A5A58">
                <a:alpha val="1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877824" y="2121408"/>
            <a:ext cx="49194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$0.1027/kWh_cooling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14400" y="2724912"/>
            <a:ext cx="484632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Levelized cost of cooling ($0.0535 capital + $0.0492 electricity, 15-yr, 6% discount)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22960" y="3429000"/>
            <a:ext cx="50292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B08A2B"/>
            </a:solidFill>
            <a:prstDash val="solid"/>
          </a:ln>
          <a:effectLst>
            <a:outerShdw sx="100000" sy="100000" kx="0" ky="0" algn="bl" rotWithShape="0" blurRad="50800" dist="25400" dir="5400000">
              <a:srgbClr val="3A5A58">
                <a:alpha val="1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77824" y="3538728"/>
            <a:ext cx="49194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$5,825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914400" y="4142232"/>
            <a:ext cx="484632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BOM (2T, 5kg Gd): Magnet $5,388 (134.7kg) · MCM $100 · Yoke $337 (67.4kg)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475488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 mass is the dominant cost driver — not electronics, not electricity.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TOLD HONESTLY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7498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Emissions &amp; Water: the Refrigerant-Free Case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1417320"/>
            <a:ext cx="10360152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138988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3145536" y="1911096"/>
            <a:ext cx="6784848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C7D1DE"/>
            </a:solidFill>
            <a:prstDash val="solid"/>
          </a:ln>
          <a:effectLst>
            <a:outerShdw sx="100000" sy="100000" kx="0" ky="0" algn="bl" rotWithShape="0" blurRad="76200" dist="25400" dir="5400000">
              <a:srgbClr val="3A5A58">
                <a:alpha val="18000"/>
              </a:srgbClr>
            </a:outerShdw>
          </a:effectLst>
        </p:spPr>
      </p:sp>
      <p:pic>
        <p:nvPicPr>
          <p:cNvPr id="15" name="Image 0" descr="slide_figs\slide2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0" y="1965960"/>
            <a:ext cx="6675120" cy="329184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914400" y="53949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B23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Emissions: </a:t>
            </a:r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 runs ~3.6× higher than VCC (0.989 vs 0.275 tCO₂e/yr) — operational electricity dominates.      </a:t>
            </a:r>
            <a:pPr algn="ct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Water: </a:t>
            </a:r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 uses ~36× less water than VCC (0.05 vs 1.80 L/kWh) — a genuine advantage today.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RANKED, NOT GUESSED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7498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Actually Close the Gap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1417320"/>
            <a:ext cx="10360152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138988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2011680"/>
            <a:ext cx="457200" cy="457200"/>
          </a:xfrm>
          <a:prstGeom prst="ellipse">
            <a:avLst/>
          </a:prstGeom>
          <a:solidFill>
            <a:srgbClr val="1C4A4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19933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frequency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199339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lever (Sobol S_T = 0.87)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732520" y="2130552"/>
            <a:ext cx="2651760" cy="201168"/>
          </a:xfrm>
          <a:prstGeom prst="rect">
            <a:avLst/>
          </a:prstGeom>
          <a:solidFill>
            <a:srgbClr val="D6DEE8"/>
          </a:solidFill>
          <a:ln/>
        </p:spPr>
      </p:sp>
      <p:sp>
        <p:nvSpPr>
          <p:cNvPr id="19" name="Shape 17"/>
          <p:cNvSpPr/>
          <p:nvPr/>
        </p:nvSpPr>
        <p:spPr>
          <a:xfrm>
            <a:off x="8732520" y="2130552"/>
            <a:ext cx="2519172" cy="201168"/>
          </a:xfrm>
          <a:prstGeom prst="rect">
            <a:avLst/>
          </a:prstGeom>
          <a:solidFill>
            <a:srgbClr val="F3B7C5"/>
          </a:solidFill>
          <a:ln/>
        </p:spPr>
      </p:sp>
      <p:sp>
        <p:nvSpPr>
          <p:cNvPr id="20" name="Shape 18"/>
          <p:cNvSpPr/>
          <p:nvPr/>
        </p:nvSpPr>
        <p:spPr>
          <a:xfrm>
            <a:off x="822960" y="2670048"/>
            <a:ext cx="457200" cy="457200"/>
          </a:xfrm>
          <a:prstGeom prst="ellipse">
            <a:avLst/>
          </a:prstGeom>
          <a:solidFill>
            <a:srgbClr val="1C4A4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2651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/ composition choice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212080" y="26517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La(Fe,Si)₁₃Hy: +44% COP vs. plain Gd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732520" y="2788920"/>
            <a:ext cx="2651760" cy="201168"/>
          </a:xfrm>
          <a:prstGeom prst="rect">
            <a:avLst/>
          </a:prstGeom>
          <a:solidFill>
            <a:srgbClr val="D6DEE8"/>
          </a:solidFill>
          <a:ln/>
        </p:spPr>
      </p:sp>
      <p:sp>
        <p:nvSpPr>
          <p:cNvPr id="25" name="Shape 23"/>
          <p:cNvSpPr/>
          <p:nvPr/>
        </p:nvSpPr>
        <p:spPr>
          <a:xfrm>
            <a:off x="8732520" y="2788920"/>
            <a:ext cx="1988820" cy="201168"/>
          </a:xfrm>
          <a:prstGeom prst="rect">
            <a:avLst/>
          </a:prstGeom>
          <a:solidFill>
            <a:srgbClr val="F3B7C5"/>
          </a:solidFill>
          <a:ln/>
        </p:spPr>
      </p:sp>
      <p:sp>
        <p:nvSpPr>
          <p:cNvPr id="26" name="Shape 24"/>
          <p:cNvSpPr/>
          <p:nvPr/>
        </p:nvSpPr>
        <p:spPr>
          <a:xfrm>
            <a:off x="822960" y="3328416"/>
            <a:ext cx="457200" cy="457200"/>
          </a:xfrm>
          <a:prstGeom prst="ellipse">
            <a:avLst/>
          </a:prstGeom>
          <a:solidFill>
            <a:srgbClr val="1C4A4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296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33101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Curie-grading / staging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5212080" y="33101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usable span past the single-stage ceiling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732520" y="3447288"/>
            <a:ext cx="2651760" cy="201168"/>
          </a:xfrm>
          <a:prstGeom prst="rect">
            <a:avLst/>
          </a:prstGeom>
          <a:solidFill>
            <a:srgbClr val="D6DEE8"/>
          </a:solidFill>
          <a:ln/>
        </p:spPr>
      </p:sp>
      <p:sp>
        <p:nvSpPr>
          <p:cNvPr id="31" name="Shape 29"/>
          <p:cNvSpPr/>
          <p:nvPr/>
        </p:nvSpPr>
        <p:spPr>
          <a:xfrm>
            <a:off x="8732520" y="3447288"/>
            <a:ext cx="1458468" cy="201168"/>
          </a:xfrm>
          <a:prstGeom prst="rect">
            <a:avLst/>
          </a:prstGeom>
          <a:solidFill>
            <a:srgbClr val="F3B7C5"/>
          </a:solidFill>
          <a:ln/>
        </p:spPr>
      </p:sp>
      <p:sp>
        <p:nvSpPr>
          <p:cNvPr id="32" name="Shape 30"/>
          <p:cNvSpPr/>
          <p:nvPr/>
        </p:nvSpPr>
        <p:spPr>
          <a:xfrm>
            <a:off x="822960" y="3986784"/>
            <a:ext cx="457200" cy="457200"/>
          </a:xfrm>
          <a:prstGeom prst="ellipse">
            <a:avLst/>
          </a:prstGeom>
          <a:solidFill>
            <a:srgbClr val="1C4A4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22960" y="3986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1463040" y="3968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Regenerator geometry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5212080" y="396849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optimum at 0.5mm particle size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732520" y="4105656"/>
            <a:ext cx="2651760" cy="201168"/>
          </a:xfrm>
          <a:prstGeom prst="rect">
            <a:avLst/>
          </a:prstGeom>
          <a:solidFill>
            <a:srgbClr val="D6DEE8"/>
          </a:solidFill>
          <a:ln/>
        </p:spPr>
      </p:sp>
      <p:sp>
        <p:nvSpPr>
          <p:cNvPr id="37" name="Shape 35"/>
          <p:cNvSpPr/>
          <p:nvPr/>
        </p:nvSpPr>
        <p:spPr>
          <a:xfrm>
            <a:off x="8732520" y="4105656"/>
            <a:ext cx="928116" cy="201168"/>
          </a:xfrm>
          <a:prstGeom prst="rect">
            <a:avLst/>
          </a:prstGeom>
          <a:solidFill>
            <a:srgbClr val="F3B7C5"/>
          </a:solidFill>
          <a:ln/>
        </p:spPr>
      </p:sp>
      <p:sp>
        <p:nvSpPr>
          <p:cNvPr id="38" name="Shape 36"/>
          <p:cNvSpPr/>
          <p:nvPr/>
        </p:nvSpPr>
        <p:spPr>
          <a:xfrm>
            <a:off x="822960" y="4645152"/>
            <a:ext cx="457200" cy="457200"/>
          </a:xfrm>
          <a:prstGeom prst="ellipse">
            <a:avLst/>
          </a:prstGeom>
          <a:solidFill>
            <a:srgbClr val="1C4A48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22960" y="4645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1463040" y="462686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/ flow balance</a:t>
            </a:r>
            <a:endParaRPr lang="en-US" sz="1350" dirty="0"/>
          </a:p>
        </p:txBody>
      </p:sp>
      <p:sp>
        <p:nvSpPr>
          <p:cNvPr id="41" name="Text 39"/>
          <p:cNvSpPr txBox="1"/>
          <p:nvPr/>
        </p:nvSpPr>
        <p:spPr>
          <a:xfrm>
            <a:off x="5212080" y="462686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Co-optimized, not maximized independently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732520" y="4764024"/>
            <a:ext cx="2651760" cy="201168"/>
          </a:xfrm>
          <a:prstGeom prst="rect">
            <a:avLst/>
          </a:prstGeom>
          <a:solidFill>
            <a:srgbClr val="D6DEE8"/>
          </a:solidFill>
          <a:ln/>
        </p:spPr>
      </p:sp>
      <p:sp>
        <p:nvSpPr>
          <p:cNvPr id="43" name="Shape 41"/>
          <p:cNvSpPr/>
          <p:nvPr/>
        </p:nvSpPr>
        <p:spPr>
          <a:xfrm>
            <a:off x="8732520" y="4764024"/>
            <a:ext cx="530352" cy="201168"/>
          </a:xfrm>
          <a:prstGeom prst="rect">
            <a:avLst/>
          </a:prstGeom>
          <a:solidFill>
            <a:srgbClr val="F3B7C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3E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1C4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TOLD STRAIGHT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74980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Open Items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1417320"/>
            <a:ext cx="10360152" cy="0"/>
          </a:xfrm>
          <a:prstGeom prst="line">
            <a:avLst/>
          </a:prstGeom>
          <a:noFill/>
          <a:ln w="9525">
            <a:solidFill>
              <a:srgbClr val="1C4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9612" y="1389888"/>
            <a:ext cx="109728" cy="54864"/>
          </a:xfrm>
          <a:prstGeom prst="ellipse">
            <a:avLst/>
          </a:prstGeom>
          <a:solidFill>
            <a:srgbClr val="F3B7C5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1783080"/>
            <a:ext cx="10515600" cy="502920"/>
          </a:xfrm>
          <a:prstGeom prst="roundRect">
            <a:avLst>
              <a:gd name="adj" fmla="val 10909"/>
            </a:avLst>
          </a:prstGeom>
          <a:solidFill>
            <a:srgbClr val="FBEBD9"/>
          </a:solidFill>
          <a:ln w="12700">
            <a:solidFill>
              <a:srgbClr val="C97A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1560" y="17830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unresolved deliberately — a record of what the model does not yet claim, not a bug list to hide.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2468880"/>
            <a:ext cx="105156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hysteresis-driven material-selection reversal seen at reduced settings does not hold at full production, multiseed settings — an open item, not a corrected number.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Halbach magnet-geometry cost-term sensitivity did not reproduce the expected front-shifting direction in this run — reported as a negative result rather than re-run to fit expectation.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first-order candidate families (Ga₁₋ₓCMn₃₊ₓ antiperovskites, Mn₁₋ₓCuₓCoGe) have confirmed Tc-tunability, but their peak entropy-change magnitudes are not yet independently calibrated.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intragranular eddy-current loss formula is derived for a flat plate but applied here to packed spherical particles, with no independently-citable sphere-specific prefactor.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Pump/motor efficiency is implemented and tested but not yet exercised by any production NSGA-III Pareto front — it defaults to an idealized 1.0.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27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benchmark device exists yet for magnetocaloric-fluid working bodies or mechanical-contact thermal diodes — both remain design-exploration tools, not validated features.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MAGCOOL-DC · ASHRAE REGION XV · SAMUDRA 2026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C4A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37960"/>
            <a:ext cx="8229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715000"/>
            <a:ext cx="0" cy="8229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55080"/>
            <a:ext cx="59436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760720"/>
            <a:ext cx="0" cy="59436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5952" y="320040"/>
            <a:ext cx="822960" cy="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68912" y="320040"/>
            <a:ext cx="0" cy="822960"/>
          </a:xfrm>
          <a:prstGeom prst="line">
            <a:avLst/>
          </a:prstGeom>
          <a:noFill/>
          <a:ln w="19050">
            <a:solidFill>
              <a:srgbClr val="F3B7C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502920"/>
            <a:ext cx="59436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86032" y="502920"/>
            <a:ext cx="0" cy="59436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54864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1508760"/>
            <a:ext cx="103327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E7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model validated to +4.2% / −1.1% / −8.1% vs. Dan’kov et al. (1998)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E7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model validated against 6 real AMR prototypes — 4 of 6 within ±15%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E7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Sobol sensitivity: electrical COP dominated by frequency (S_T = 0.87), not field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E7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NSGA-III discovered a La(Fe,Si)₁₃Hy-dominated Pareto front (67–100% share, seed-stable)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E7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design point found where calibrated AMR beats vapor-compression on COP or emissions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E7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Refrigerant-free operation + ~36× lower water use are real advantages today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66928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3B7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validated, self-checking engineering framework that tells you exactly where it stands today, why, and what would have to change.”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2026-09-04T14:57:47Z</dcterms:created>
  <dcterms:modified xsi:type="dcterms:W3CDTF">2026-09-04T14:57:47Z</dcterms:modified>
</cp:coreProperties>
</file>
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3B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SIMULATION &amp; MULTI-OBJECTIVE OPTIMISATION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1168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MAGNETOCALORIC COOLING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DATA CENTERS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Refrigerant-Free, Low-Carbon HVAC&amp;R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05756" y="4251960"/>
            <a:ext cx="2377440" cy="0"/>
          </a:xfrm>
          <a:prstGeom prst="line">
            <a:avLst/>
          </a:prstGeom>
          <a:noFill/>
          <a:ln w="12700">
            <a:solidFill>
              <a:srgbClr val="F3B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AKHIL PILLAI   •   AMRUTA PATIL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Region XV — 3rd CRC 2026  |  Student Competition  |  Theme: SAMUDRA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Engineering, SPCE, Mumbai  |  Guide: Kunal Bhavsar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Methodology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899916" y="3200400"/>
            <a:ext cx="4389120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317296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AMR 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62856" y="5568696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62856" y="55686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965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9264" y="207568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73405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review; mean-field &amp; Landau material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965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81144" y="207568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73405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cycle model; Gd / benchmark-device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965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93024" y="207568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73405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calibration; Sobol sensitivity; RSM surrogate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611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9264" y="372160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3799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 multi-objective optimisation; cascade design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3611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81144" y="372160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Jun–Jul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3799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Economics, emissions, extension studies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611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193024" y="3721608"/>
            <a:ext cx="31821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Aug–Sep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379976"/>
            <a:ext cx="3108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recommendations; report &amp; CRC presentation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1540" y="2029968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" y="2743200"/>
            <a:ext cx="3108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" y="34290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center's total energy goes to cooling — the single largest non-IT load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48556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23A56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03420" y="2029968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GWP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539996" y="2743200"/>
            <a:ext cx="3108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448556" y="34290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HFC/HFO refrigerants in vapor-compression and liquid cooling carry high Global Warming Potential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60436" y="1920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115300" y="2029968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Solid-State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51876" y="2743200"/>
            <a:ext cx="3108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60436" y="34290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Magnetocaloric cooling promises a refrigerant-free alternative — no compressor, no leak pathway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PHYSICS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Active Magnetic Regenerator (AMR) Cycle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103120"/>
            <a:ext cx="585216" cy="585216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0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MAGNETIZE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" y="32461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applied — material heats (adiabatic)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95828" y="2148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416552" y="2103120"/>
            <a:ext cx="585216" cy="585216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1655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45186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BLOW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51860" y="32461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rejected to the sink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66460" y="2148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87184" y="2103120"/>
            <a:ext cx="585216" cy="585216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87184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22492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DEMAGNETIZE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22492" y="32461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removed — material cools (adiabatic)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37092" y="2148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957816" y="2103120"/>
            <a:ext cx="585216" cy="585216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57816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993124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BLOW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93124" y="32461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absorbed from the load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46634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amplifies one stage's small ΔT into a usable temperature span across the bed.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LAYOUT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AMR Unit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1865376"/>
            <a:ext cx="523036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amr_unit_schem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920240"/>
            <a:ext cx="5120640" cy="41605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2960" y="1920240"/>
            <a:ext cx="2606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NdFeB permanent-magnet assembly cycles field across the packed bed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Regenerator bed: packed spheres or parallel plates of the MCM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Hot/cold-side heat exchangers reject/absorb heat each half-cycle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drives working fluid through the bed in sync with the field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657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Literature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modeling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State-dependent (f, ṁ, Qc-based)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parasitic-fraction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+ geometry co-optimized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material, manual geometry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 on gap vs. 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crossover search, reported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benchmarked against real HVAC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Data-center 5–20K span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domestic-refrigeration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SIX SOURCES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Literature This Work Builds On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15600" cy="397764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4937760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Anchors in This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4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Giant MCE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Pecharsky &amp; Gschneidner, PRL 78, 4494 (1997)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First-order Gd₅Si₂Ge₂ transition — motivates the Landau extension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 benchmark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Dan’kov et al., PRB 57, 3478 (1998)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ΔT_ad at 1/2/5 T — primary material-model validation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 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Barclay, US Patent 4332135 (1982)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four-stage cycle this model simulates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Kamran, Ahmad &amp; Wang (2020); Greco et al. (2019)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device tables behind this repo's 16-device benchmark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&amp; geometry physics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Tušek et al. (2013); Klinar et al.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Geometry-dependent pumping power and the Hypereg parallel-hydraulic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Mean-field limits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Oliveira &amp; von Ranke, Phys. Rep. 489 (2010)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the near-Tᴄ bias this model's own validation reproduces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" y="1965960"/>
            <a:ext cx="3429000" cy="35661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1965960"/>
            <a:ext cx="3429000" cy="457200"/>
          </a:xfrm>
          <a:prstGeom prst="roundRect">
            <a:avLst>
              <a:gd name="adj" fmla="val 14000"/>
            </a:avLst>
          </a:prstGeom>
          <a:solidFill>
            <a:srgbClr val="F3B7C5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" y="2194560"/>
            <a:ext cx="3429000" cy="228600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19659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Cycle Modeling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2532888"/>
            <a:ext cx="3099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Mean-field (Gd) + Landau (giant-MCE)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0-D AMR cooling/COP model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vs. literature &amp; real devices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79976" y="1965960"/>
            <a:ext cx="3429000" cy="35661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9976" y="1965960"/>
            <a:ext cx="3429000" cy="457200"/>
          </a:xfrm>
          <a:prstGeom prst="roundRect">
            <a:avLst>
              <a:gd name="adj" fmla="val 14000"/>
            </a:avLst>
          </a:prstGeom>
          <a:solidFill>
            <a:srgbClr val="1C4A48"/>
          </a:solidFill>
          <a:ln/>
        </p:spPr>
      </p:sp>
      <p:sp>
        <p:nvSpPr>
          <p:cNvPr id="21" name="Shape 19"/>
          <p:cNvSpPr/>
          <p:nvPr/>
        </p:nvSpPr>
        <p:spPr>
          <a:xfrm>
            <a:off x="4379976" y="2194560"/>
            <a:ext cx="3429000" cy="228600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44568" y="19659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Calibration &amp; Sensitivity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2532888"/>
            <a:ext cx="3099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State-dependent eddy/pumping/base loss model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 to real AMR prototypes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Sobol sensitivity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1965960"/>
            <a:ext cx="3429000" cy="356616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1965960"/>
            <a:ext cx="3429000" cy="457200"/>
          </a:xfrm>
          <a:prstGeom prst="roundRect">
            <a:avLst>
              <a:gd name="adj" fmla="val 14000"/>
            </a:avLst>
          </a:prstGeom>
          <a:solidFill>
            <a:srgbClr val="F3B7C5"/>
          </a:solidFill>
          <a:ln/>
        </p:spPr>
      </p:sp>
      <p:sp>
        <p:nvSpPr>
          <p:cNvPr id="26" name="Shape 24"/>
          <p:cNvSpPr/>
          <p:nvPr/>
        </p:nvSpPr>
        <p:spPr>
          <a:xfrm>
            <a:off x="8083296" y="2194560"/>
            <a:ext cx="3429000" cy="228600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47888" y="196596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532888"/>
            <a:ext cx="30998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RSM surrogate + NSGA-III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Techno-economic + emissions comparison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 feasibility vs. conventional HVAC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760220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33372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3B7C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79092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Cycle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985516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8668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C4A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04388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10812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83964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3B7C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29684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36108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09260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C4A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54980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661404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34556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3B7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0276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886700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9852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C4A4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05572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111996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85148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3B7C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0868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337292" y="2578608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410444" y="228600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1C4A4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456164" y="22860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stages  ·  ~30 core modules  ·  452 automated tests  ·  35 auto-generated figures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371600" y="4069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validated outputs into the next, ensuring traceable, reproducible results.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&amp; System Modeling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899916" y="3200400"/>
            <a:ext cx="4389120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317296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Physics Primer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Validation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Giant-MCE Honesty Flag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Device Physics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Modeling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“Sees” a Magnetocaloric Material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956816"/>
            <a:ext cx="5687568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2011680"/>
            <a:ext cx="5577840" cy="24688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2960" y="20116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Gd: mean-field (Brillouin/Weiss) theory, H_eff = H + λM — λ fixed by the known Curie temperature, not fit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Giant-MCE families (Gd₅Si₂Ge₂, La(Fe,Si)₁₃Hy, (Mn,Fe)₂(P,Si)): 6th-order Landau free energy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because these are first-order transitions mean-field theory cannot capture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4572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change &amp; ΔT_ad vs. temperature (1/2/5 T), peak at Tc = 294 K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 Model Validation vs. Dan’kov et al. (1998)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7824" y="2121408"/>
            <a:ext cx="162763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+4.2%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724912"/>
            <a:ext cx="15544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08A2B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843784" y="2121408"/>
            <a:ext cx="162763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−1.1%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2724912"/>
            <a:ext cx="15544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 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23A56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09744" y="2121408"/>
            <a:ext cx="162763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23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−8.1%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24912"/>
            <a:ext cx="15544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 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5204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Mean-field theory's known near-Tc bias — physically explained, not hidden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trend consistent with textbook mean-field limitations near the Curie point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45936" y="1956816"/>
            <a:ext cx="527608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25" name="Image 0" descr="slide_figs\slide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011680"/>
            <a:ext cx="5166360" cy="35661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OPENLY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Calibration Gap: Giant-MCE ΔT_ad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08776" y="1956816"/>
            <a:ext cx="541324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2011680"/>
            <a:ext cx="530352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20116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BEBD9"/>
          </a:solidFill>
          <a:ln w="15875">
            <a:solidFill>
              <a:srgbClr val="C97A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22402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 K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measurement (Giguère et al. 1999):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 K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Overestimate: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2.42×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giant-MCE / cascade number in this talk should be read as an upper bound.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AMR Characteristic Curve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1911096"/>
            <a:ext cx="6053328" cy="4087368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965960"/>
            <a:ext cx="5943600" cy="39776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3291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capacity and COP both fall as span widens — and there is a hard structural ceiling near 16 K for a single stage.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“Ideal” COP Is the Wrong Number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1956816"/>
            <a:ext cx="555040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2011680"/>
            <a:ext cx="5440680" cy="32004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2960" y="2103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W_eddy  ∝  f · H²
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W_pump  ∝  ṁ²
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W_base  ∝  Qc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3 real devices — an exactly-determined fit, not a regression.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CHECK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System-Level Validation — 6 Real AMR Prototypes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1911096"/>
            <a:ext cx="6419088" cy="3538728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1965960"/>
            <a:ext cx="6309360" cy="34290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devices within ±15%  ·  2 outliers identified and physically explained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BEYOND 0-D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1-D Transient Model vs. 3 More Prototypes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5536" y="1865376"/>
            <a:ext cx="687628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graded_bed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1920240"/>
            <a:ext cx="676656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5532120"/>
            <a:ext cx="10515600" cy="502920"/>
          </a:xfrm>
          <a:prstGeom prst="roundRect">
            <a:avLst>
              <a:gd name="adj" fmla="val 10909"/>
            </a:avLst>
          </a:prstGeom>
          <a:solidFill>
            <a:srgbClr val="FBEBD9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Direction-inconsistent across devices (undershoots 2 of 3, overshoots 1) — a genuine, unresolved calibration gap, reported openly rather than smoothed over.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Design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899916" y="3200400"/>
            <a:ext cx="4389120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317296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 Discovery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 Hero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Design Point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Optimum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62856" y="5568696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62856" y="55686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Cascades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#2 INSIGHT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Frequency, Not Field, Runs the Show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1956816"/>
            <a:ext cx="5367528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2011680"/>
            <a:ext cx="5257800" cy="33832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206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rate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Regen. effectiveness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4805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constant-loss model attributes 100% of sensitivity to a made-up parameter instead.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40,000+ Evaluations Possible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6976" y="1911096"/>
            <a:ext cx="660196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965960"/>
            <a:ext cx="6492240" cy="32918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 = 0.856   ·   RMSE = 365 W   ·   300 training samples   ·   100 held-out test samples   ·   5 design variables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Setup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965960"/>
            <a:ext cx="521208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96596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1C4A4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194560"/>
            <a:ext cx="5212080" cy="228600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196596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Variables (7 + 1 categorical)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2532888"/>
            <a:ext cx="48828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· frequency · flow rate · regenerator mass · effectiveness · blow fraction · particle diameter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family is co-optimized as an 8th, categorical choice.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965960"/>
            <a:ext cx="521208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965960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F3B7C5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2194560"/>
            <a:ext cx="5212080" cy="228600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6792" y="1965960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2532888"/>
            <a:ext cx="48828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cooling capacity (Qc)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BOM cost ($)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independent NSGA-III seeds for stability.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FINDING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Pareto Front &amp; a Material Discovery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91256" y="1911096"/>
            <a:ext cx="577900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46120" y="1965960"/>
            <a:ext cx="5669280" cy="32004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5349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La(Fe,Si)₁₃Hy dominates 67–100% of Pareto-optimal designs across 3 independent seeds — a genuine, seed-stable finding.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SHEET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Design Point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295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La(Fe,Si)₁₃Hy, tuned, Tc = 285.3 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295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 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55280" y="196596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295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 Hz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292608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255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 kg/s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292608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3255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3.29 kg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55280" y="292608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9244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3255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388620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012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diameter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2153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 mm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" y="4892040"/>
            <a:ext cx="10561320" cy="868680"/>
          </a:xfrm>
          <a:prstGeom prst="roundRect">
            <a:avLst>
              <a:gd name="adj" fmla="val 8421"/>
            </a:avLst>
          </a:prstGeom>
          <a:solidFill>
            <a:srgbClr val="1C4A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489204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COP_electrical = 9.91      ·      Qc = 32.4 kW      ·      Cost = $1,919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CANDIDATES, ONE WINNER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Family Comparison at the ASHRAE Point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2322576" y="1819656"/>
            <a:ext cx="751636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material_famil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874520"/>
            <a:ext cx="7406640" cy="41605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La(Fe,Si)₁₃Hy leads every span tested (5–20K, 2T, 5kg/stage) — consistent with its Pareto dominance.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Cost Model Change the Winner?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6976" y="1865376"/>
            <a:ext cx="660196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magnet_geometry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920240"/>
            <a:ext cx="6492240" cy="3566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 size shrinks slightly under a geometric magnet-cost term (21→19), but La(Fe,Si)₁₃Hy still dominates — the material finding is robust to how magnet cost is modeled.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EXPLORATION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Broader Blend Trades Peak Performance for Range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5536" y="1865376"/>
            <a:ext cx="687628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nanocomposite_robust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1920240"/>
            <a:ext cx="6766560" cy="32918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design span the sharply-tuned single-phase material wins outright — but off-design, it can collapse to zero cooling while the nanocomposite blend still delivers positive Qc.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TRADEOFF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Regenerator Geometry: an Interior Optimum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054096" y="1911096"/>
            <a:ext cx="6784848" cy="3904488"/>
          </a:xfrm>
          <a:prstGeom prst="roundRect">
            <a:avLst>
              <a:gd name="adj" fmla="val 1405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0" y="1965960"/>
            <a:ext cx="6675120" cy="3794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particles improve heat transfer but raise pumping loss. Optimum packed-bed sphere diameter: 0.5 mm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SPAN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Beats the Single-Stage Ceiling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2871216" y="1911096"/>
            <a:ext cx="7059168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0" y="1965960"/>
            <a:ext cx="6949440" cy="3840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Curie-graded, multi-stage regenerators extend usable span well past the single-stage collapse.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Honest Verdict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899916" y="3200400"/>
            <a:ext cx="4389120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317296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43584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Verdict Hero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82128" y="3794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Water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43584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Roadmap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solidFill>
            <a:srgbClr val="1C4A4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62856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Open Items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82128" y="4681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FINDING #2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Verdict vs. Conventional Cooling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6976" y="1728216"/>
            <a:ext cx="6510528" cy="3172968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783080"/>
            <a:ext cx="6400800" cy="30632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463040" y="4983480"/>
            <a:ext cx="9235440" cy="1417320"/>
          </a:xfrm>
          <a:prstGeom prst="roundRect">
            <a:avLst>
              <a:gd name="adj" fmla="val 5161"/>
            </a:avLst>
          </a:prstGeom>
          <a:solidFill>
            <a:srgbClr val="FCE9EC"/>
          </a:solidFill>
          <a:ln w="15875">
            <a:solidFill>
              <a:srgbClr val="B23A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691640" y="512064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search — span 3–30K, vapor-compression η = 0.25–0.55 — found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2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combination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calibrated AMR beats vapor-compression on COP.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AMR COP found: 5.89   vs.   VCC's own worst-case COP: 24.33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Economics: Where the Cost Actually Lives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1956816"/>
            <a:ext cx="559612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2011680"/>
            <a:ext cx="5486400" cy="3566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201168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C4A48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77824" y="2121408"/>
            <a:ext cx="49194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$0.1027/kWh_cooling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2724912"/>
            <a:ext cx="4846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Levelized cost of cooling ($0.0535 capital + $0.0492 electricity, 15-yr, 6% discount)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342900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08A2B"/>
            </a:solidFill>
            <a:prstDash val="solid"/>
          </a:ln>
          <a:effectLst>
            <a:outerShdw sx="100000" sy="100000" kx="0" ky="0" algn="bl" rotWithShape="0" blurRad="50800" dist="25400" dir="5400000">
              <a:srgbClr val="3A5A58">
                <a:alpha val="1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77824" y="3538728"/>
            <a:ext cx="49194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$5,825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42232"/>
            <a:ext cx="48463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BOM (2T, 5kg Gd): Magnet $5,388 (134.7kg) · MCM $100 · Yoke $337 (67.4kg)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754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mass is the dominant cost driver — not electronics, not electricity.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HONESTLY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&amp; Water: the Refrigerant-Free Case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5536" y="1911096"/>
            <a:ext cx="678484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slide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1965960"/>
            <a:ext cx="6675120" cy="32918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2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Emissions: 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runs ~3.6× higher than VCC (0.989 vs 0.275 tCO₂e/yr) — operational electricity dominates.      </a:t>
            </a:r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</a:t>
            </a:r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uses ~36× less water than VCC (0.05 vs 1.80 L/kWh) — a genuine advantage today.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NOT GUESSED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Actually Close the Gap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frequency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993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lever (Sobol S_T = 0.87)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2130552"/>
            <a:ext cx="2651760" cy="2011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2520" y="2130552"/>
            <a:ext cx="2519172" cy="2011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/ composition choice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La(Fe,Si)₁₃Hy: +44% COP vs. plain Gd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32520" y="2788920"/>
            <a:ext cx="2651760" cy="2011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8732520" y="2788920"/>
            <a:ext cx="1988820" cy="2011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3328416"/>
            <a:ext cx="457200" cy="457200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3310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Curie-grading / staging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310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usable span past the single-stage ceiling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32520" y="3447288"/>
            <a:ext cx="2651760" cy="2011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31" name="Shape 29"/>
          <p:cNvSpPr/>
          <p:nvPr/>
        </p:nvSpPr>
        <p:spPr>
          <a:xfrm>
            <a:off x="8732520" y="3447288"/>
            <a:ext cx="1458468" cy="2011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3986784"/>
            <a:ext cx="457200" cy="457200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3968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Regenerator geometry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3968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optimum at 0.5mm particle size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32520" y="4105656"/>
            <a:ext cx="2651760" cy="2011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37" name="Shape 35"/>
          <p:cNvSpPr/>
          <p:nvPr/>
        </p:nvSpPr>
        <p:spPr>
          <a:xfrm>
            <a:off x="8732520" y="4105656"/>
            <a:ext cx="928116" cy="2011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" y="4645152"/>
            <a:ext cx="457200" cy="457200"/>
          </a:xfrm>
          <a:prstGeom prst="ellipse">
            <a:avLst/>
          </a:prstGeom>
          <a:solidFill>
            <a:srgbClr val="1C4A4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46268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/ flow balance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5212080" y="4626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Co-optimized, not maximized independently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732520" y="4764024"/>
            <a:ext cx="2651760" cy="2011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43" name="Shape 41"/>
          <p:cNvSpPr/>
          <p:nvPr/>
        </p:nvSpPr>
        <p:spPr>
          <a:xfrm>
            <a:off x="8732520" y="4764024"/>
            <a:ext cx="530352" cy="201168"/>
          </a:xfrm>
          <a:prstGeom prst="rect">
            <a:avLst/>
          </a:prstGeom>
          <a:solidFill>
            <a:srgbClr val="F3B7C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EXPLORATION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Magnetocaloric Fluids: an Alternative Working Body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1865376"/>
            <a:ext cx="5550408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fluid_mce_volume_fr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920240"/>
            <a:ext cx="5440680" cy="35661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2960" y="21031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Ferrofluid / MR-suspension bed, swept over volume fraction φ.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C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COP_elec peaks near φ ≈ 0.10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too little MCE mass hurts capacity, too much raises viscosity/pumping loss.
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Design-exploration tool, not yet validated against a real device.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COST-ONLY STUDY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Thermal Diode: an Upper-Bound Check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6976" y="1865376"/>
            <a:ext cx="660196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C7D1DE"/>
            </a:solidFill>
            <a:prstDash val="solid"/>
          </a:ln>
          <a:effectLst>
            <a:outerShdw sx="100000" sy="100000" kx="0" ky="0" algn="bl" rotWithShape="0" blurRad="76200" dist="25400" dir="5400000">
              <a:srgbClr val="3A5A58">
                <a:alpha val="18000"/>
              </a:srgbClr>
            </a:outerShdw>
          </a:effectLst>
        </p:spPr>
      </p:sp>
      <p:pic>
        <p:nvPicPr>
          <p:cNvPr id="15" name="Image 0" descr="slide_figs\thermal_diode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920240"/>
            <a:ext cx="6492240" cy="32918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22960" y="5394960"/>
            <a:ext cx="10561320" cy="777240"/>
          </a:xfrm>
          <a:prstGeom prst="roundRect">
            <a:avLst>
              <a:gd name="adj" fmla="val 8235"/>
            </a:avLst>
          </a:prstGeom>
          <a:solidFill>
            <a:srgbClr val="FBEBD9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51560" y="539496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actuation cost reduces COP_electrical by ≤ 0.03% across 0.5–8 Hz — a small, cost-only effect; no offsetting heat-transfer benefit is modeled here.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1C4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STRAIGHT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Future Scope &amp; Open Items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10360152" cy="0"/>
          </a:xfrm>
          <a:prstGeom prst="line">
            <a:avLst/>
          </a:prstGeom>
          <a:noFill/>
          <a:ln w="9525">
            <a:solidFill>
              <a:srgbClr val="1C4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9612" y="1389888"/>
            <a:ext cx="109728" cy="54864"/>
          </a:xfrm>
          <a:prstGeom prst="ellipse">
            <a:avLst/>
          </a:prstGeom>
          <a:solidFill>
            <a:srgbClr val="F3B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783080"/>
            <a:ext cx="10515600" cy="502920"/>
          </a:xfrm>
          <a:prstGeom prst="roundRect">
            <a:avLst>
              <a:gd name="adj" fmla="val 10909"/>
            </a:avLst>
          </a:prstGeom>
          <a:solidFill>
            <a:srgbClr val="FBEBD9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1783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and unresolved items deliberately documented — a roadmap for the next hardware build.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468880"/>
            <a:ext cx="10515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experimental prototype and hardware-in-the-loop validation needed for data-center-relevant spans and loads.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open 1-D regenerator calibration gap (directionally-inconsistent axial-conduction fit across benchmark devices).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Magnetocaloric-fluid and passive/hybrid-regenerator architectures are mature design-exploration tools, but need to become validated features.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bottom-up manufactured-system BOM (pumps, motors, controls) needed to replace the current order-of-magnitude cost multiplier.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OCR/access required to mine remaining chapters in Halbach design, AMR cycle topology, and thermal-diode heat switching.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7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or digital-twin real-time optimisation for adaptive data-center cooling control.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MAGCOOL-DC · ASHRAE REGION XV · SAMUDRA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37960"/>
            <a:ext cx="8229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715000"/>
            <a:ext cx="0" cy="8229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594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760720"/>
            <a:ext cx="0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5952" y="320040"/>
            <a:ext cx="822960" cy="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68912" y="320040"/>
            <a:ext cx="0" cy="822960"/>
          </a:xfrm>
          <a:prstGeom prst="line">
            <a:avLst/>
          </a:prstGeom>
          <a:noFill/>
          <a:ln w="19050">
            <a:solidFill>
              <a:srgbClr val="F3B7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502920"/>
            <a:ext cx="5943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86032" y="502920"/>
            <a:ext cx="0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48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508760"/>
            <a:ext cx="10332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model validated to +4.2% / −1.1% / −8.1% vs. Dan’kov et al. (1998)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 validated against 6 real AMR prototypes — 4 of 6 within ±15%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Sobol sensitivity: electrical COP dominated by frequency (S_T = 0.87), not field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NSGA-III discovered a La(Fe,Si)₁₃Hy-dominated Pareto front (67–100% share, seed-stable)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point found where calibrated AMR beats vapor-compression on COP or emissions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E7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Refrigerant-free operation + ~36× lower water use are real advantages today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69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B7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validated, self-checking engineering framework that tells you exactly where it stands today, why, and what would have to change.”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2026-09-04T15:37:44Z</dcterms:created>
  <dcterms:modified xsi:type="dcterms:W3CDTF">2026-09-04T15:37:44Z</dcterms:modified>
</cp:coreProperties>
</file>